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90" r:id="rId1"/>
  </p:sldMasterIdLst>
  <p:notesMasterIdLst>
    <p:notesMasterId r:id="rId19"/>
  </p:notesMasterIdLst>
  <p:sldIdLst>
    <p:sldId id="277" r:id="rId2"/>
    <p:sldId id="280" r:id="rId3"/>
    <p:sldId id="270" r:id="rId4"/>
    <p:sldId id="271" r:id="rId5"/>
    <p:sldId id="284" r:id="rId6"/>
    <p:sldId id="258" r:id="rId7"/>
    <p:sldId id="259" r:id="rId8"/>
    <p:sldId id="272" r:id="rId9"/>
    <p:sldId id="273" r:id="rId10"/>
    <p:sldId id="274" r:id="rId11"/>
    <p:sldId id="281" r:id="rId12"/>
    <p:sldId id="282" r:id="rId13"/>
    <p:sldId id="283" r:id="rId14"/>
    <p:sldId id="275" r:id="rId15"/>
    <p:sldId id="285" r:id="rId16"/>
    <p:sldId id="276" r:id="rId17"/>
    <p:sldId id="269" r:id="rId18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orbel" panose="020B05030202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79pVsW+CPvSZI/52upt4yQJfW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DA2108-A1FA-4417-AF62-DA1FF62BD568}" v="32" dt="2026-07-05T16:45:52.951"/>
  </p1510:revLst>
</p1510:revInfo>
</file>

<file path=ppt/tableStyles.xml><?xml version="1.0" encoding="utf-8"?>
<a:tblStyleLst xmlns:a="http://schemas.openxmlformats.org/drawingml/2006/main" def="{94C48280-0431-4497-90C4-164544280AFA}">
  <a:tblStyle styleId="{94C48280-0431-4497-90C4-164544280AFA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B"/>
          </a:solidFill>
        </a:fill>
      </a:tcStyle>
    </a:wholeTbl>
    <a:band1H>
      <a:tcTxStyle/>
      <a:tcStyle>
        <a:tcBdr/>
        <a:fill>
          <a:solidFill>
            <a:srgbClr val="CCE2F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E2F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30" Type="http://customschemas.google.com/relationships/presentationmetadata" Target="metadata"/><Relationship Id="rId35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743278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215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1678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9410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31F0F204-9DA7-9711-E51F-DAE7FB91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>
            <a:extLst>
              <a:ext uri="{FF2B5EF4-FFF2-40B4-BE49-F238E27FC236}">
                <a16:creationId xmlns:a16="http://schemas.microsoft.com/office/drawing/2014/main" id="{03915418-58C8-8895-A096-9D6F5F9A6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5ABAFFDE-C949-0691-AE9F-AA21E06AE4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513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2818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4398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427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7405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0905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BE09684D-3A04-499E-BAA0-67B2AB85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>
            <a:extLst>
              <a:ext uri="{FF2B5EF4-FFF2-40B4-BE49-F238E27FC236}">
                <a16:creationId xmlns:a16="http://schemas.microsoft.com/office/drawing/2014/main" id="{33977F25-0575-67CB-31FD-C010BAB01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>
            <a:extLst>
              <a:ext uri="{FF2B5EF4-FFF2-40B4-BE49-F238E27FC236}">
                <a16:creationId xmlns:a16="http://schemas.microsoft.com/office/drawing/2014/main" id="{69AD0F99-61AD-BAFD-3C96-026DD5F1A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13018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99E74857-8B62-B59C-4185-D96F73E2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>
            <a:extLst>
              <a:ext uri="{FF2B5EF4-FFF2-40B4-BE49-F238E27FC236}">
                <a16:creationId xmlns:a16="http://schemas.microsoft.com/office/drawing/2014/main" id="{F9A23151-2974-7F73-DA35-67EF290E4D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>
            <a:extLst>
              <a:ext uri="{FF2B5EF4-FFF2-40B4-BE49-F238E27FC236}">
                <a16:creationId xmlns:a16="http://schemas.microsoft.com/office/drawing/2014/main" id="{4EAFA454-9B66-D00C-A576-8C8828146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9397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C7AB3B24-E20B-09D4-753E-9F1B3D99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>
            <a:extLst>
              <a:ext uri="{FF2B5EF4-FFF2-40B4-BE49-F238E27FC236}">
                <a16:creationId xmlns:a16="http://schemas.microsoft.com/office/drawing/2014/main" id="{BC32C992-80F4-4F18-5D31-517DD98F9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>
            <a:extLst>
              <a:ext uri="{FF2B5EF4-FFF2-40B4-BE49-F238E27FC236}">
                <a16:creationId xmlns:a16="http://schemas.microsoft.com/office/drawing/2014/main" id="{EB66401A-E037-C141-814E-C42161AB5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8291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3899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2BA4D934-6558-D2CC-FFEC-703DD2FC3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>
            <a:extLst>
              <a:ext uri="{FF2B5EF4-FFF2-40B4-BE49-F238E27FC236}">
                <a16:creationId xmlns:a16="http://schemas.microsoft.com/office/drawing/2014/main" id="{1158E004-24DC-8D26-7529-282D58312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>
            <a:extLst>
              <a:ext uri="{FF2B5EF4-FFF2-40B4-BE49-F238E27FC236}">
                <a16:creationId xmlns:a16="http://schemas.microsoft.com/office/drawing/2014/main" id="{A465D409-943C-35C3-1511-E6235ECDC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5677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3337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5608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82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04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15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27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66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2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Electronics and Communication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5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50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69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8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2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59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  <p:sp>
        <p:nvSpPr>
          <p:cNvPr id="3" name="Google Shape;142;p1"/>
          <p:cNvSpPr txBox="1">
            <a:spLocks/>
          </p:cNvSpPr>
          <p:nvPr/>
        </p:nvSpPr>
        <p:spPr>
          <a:xfrm>
            <a:off x="0" y="1287775"/>
            <a:ext cx="12192000" cy="54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5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Pct val="100000"/>
              <a:buFontTx/>
            </a:pPr>
            <a:r>
              <a:rPr lang="en-US" sz="3200" b="1" dirty="0">
                <a:solidFill>
                  <a:schemeClr val="tx1"/>
                </a:solidFill>
                <a:latin typeface="Arial Black" panose="020B0A04020102020204" pitchFamily="34" charset="0"/>
              </a:rPr>
              <a:t>                 </a:t>
            </a:r>
            <a:b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600" b="1" dirty="0">
                <a:solidFill>
                  <a:schemeClr val="tx1"/>
                </a:solidFill>
                <a:latin typeface="Arial Black" panose="020B0A04020102020204" pitchFamily="34" charset="0"/>
              </a:rPr>
              <a:t>       Department of Electronics and Communication Engineering</a:t>
            </a:r>
          </a:p>
        </p:txBody>
      </p:sp>
      <p:graphicFrame>
        <p:nvGraphicFramePr>
          <p:cNvPr id="4" name="Google Shape;144;p1"/>
          <p:cNvGraphicFramePr/>
          <p:nvPr>
            <p:extLst>
              <p:ext uri="{D42A27DB-BD31-4B8C-83A1-F6EECF244321}">
                <p14:modId xmlns:p14="http://schemas.microsoft.com/office/powerpoint/2010/main" val="1659244407"/>
              </p:ext>
            </p:extLst>
          </p:nvPr>
        </p:nvGraphicFramePr>
        <p:xfrm>
          <a:off x="5438417" y="4376943"/>
          <a:ext cx="6522767" cy="1854250"/>
        </p:xfrm>
        <a:graphic>
          <a:graphicData uri="http://schemas.openxmlformats.org/drawingml/2006/table">
            <a:tbl>
              <a:tblPr firstRow="1" bandRow="1">
                <a:noFill/>
                <a:tableStyleId>{94C48280-0431-4497-90C4-164544280AFA}</a:tableStyleId>
              </a:tblPr>
              <a:tblGrid>
                <a:gridCol w="983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   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SL.NO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                 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 NAME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            </a:t>
                      </a: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        1.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Pavitra V Indi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01FE23BEC277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        2.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Ankit B C 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01FE23BEC315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        3.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Shailesh Patil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01FE23BEC144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        4.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Srinivas Y B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dirty="0"/>
                        <a:t>01FE23BEC102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Google Shape;146;p1"/>
          <p:cNvSpPr txBox="1"/>
          <p:nvPr/>
        </p:nvSpPr>
        <p:spPr>
          <a:xfrm>
            <a:off x="408182" y="3838334"/>
            <a:ext cx="6189785" cy="53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900" b="1" kern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  <a:sym typeface="Calibri"/>
              </a:rPr>
              <a:t>Under the guidance of:</a:t>
            </a:r>
            <a:endParaRPr sz="2900" b="1" kern="12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  <a:sym typeface="Corbe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83105" y="3838334"/>
            <a:ext cx="2525884" cy="538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1240"/>
              </a:spcBef>
              <a:buSzPts val="4640"/>
            </a:pPr>
            <a:r>
              <a:rPr lang="en-US" sz="1100" dirty="0"/>
              <a:t> </a:t>
            </a:r>
            <a:r>
              <a:rPr lang="en-US" sz="2900" b="1" kern="12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  <a:sym typeface="Corbel"/>
              </a:rPr>
              <a:t>Team members:</a:t>
            </a:r>
            <a:r>
              <a:rPr lang="en-US" sz="1100" dirty="0"/>
              <a:t>:</a:t>
            </a:r>
          </a:p>
        </p:txBody>
      </p:sp>
      <p:sp>
        <p:nvSpPr>
          <p:cNvPr id="7" name="Google Shape;142;p1"/>
          <p:cNvSpPr txBox="1">
            <a:spLocks/>
          </p:cNvSpPr>
          <p:nvPr/>
        </p:nvSpPr>
        <p:spPr>
          <a:xfrm>
            <a:off x="-99696" y="2041488"/>
            <a:ext cx="12192000" cy="5410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anchor="b" anchorCtr="0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Minor Project  VI semester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838" y="182917"/>
            <a:ext cx="4412428" cy="750360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05623"/>
            <a:ext cx="379530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(Digital VLSI-05)</a:t>
            </a:r>
            <a:endParaRPr lang="en-US" sz="32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Google Shape;142;p1"/>
          <p:cNvSpPr txBox="1">
            <a:spLocks/>
          </p:cNvSpPr>
          <p:nvPr/>
        </p:nvSpPr>
        <p:spPr>
          <a:xfrm>
            <a:off x="-112895" y="2727708"/>
            <a:ext cx="12192000" cy="54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5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Pct val="100000"/>
              <a:buFontTx/>
            </a:pPr>
            <a:r>
              <a:rPr lang="en-US" sz="3200" b="1" dirty="0">
                <a:solidFill>
                  <a:schemeClr val="tx1"/>
                </a:solidFill>
                <a:latin typeface="Arial Black" panose="020B0A04020102020204" pitchFamily="34" charset="0"/>
              </a:rPr>
              <a:t>                 </a:t>
            </a:r>
            <a:b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600" b="1" dirty="0">
                <a:solidFill>
                  <a:schemeClr val="tx1"/>
                </a:solidFill>
                <a:latin typeface="Arial Black" panose="020B0A04020102020204" pitchFamily="34" charset="0"/>
              </a:rPr>
              <a:t>       Python Driven Digital Design Using </a:t>
            </a:r>
            <a:r>
              <a:rPr lang="en-US" sz="4600" b="1" dirty="0" err="1">
                <a:solidFill>
                  <a:schemeClr val="tx1"/>
                </a:solidFill>
                <a:latin typeface="Arial Black" panose="020B0A04020102020204" pitchFamily="34" charset="0"/>
              </a:rPr>
              <a:t>MyHdl</a:t>
            </a:r>
            <a:endParaRPr lang="en-US" sz="46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Google Shape;142;p1"/>
          <p:cNvSpPr txBox="1">
            <a:spLocks/>
          </p:cNvSpPr>
          <p:nvPr/>
        </p:nvSpPr>
        <p:spPr>
          <a:xfrm>
            <a:off x="0" y="4451522"/>
            <a:ext cx="3795310" cy="54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52500" lnSpcReduction="2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Pct val="100000"/>
              <a:buFontTx/>
            </a:pPr>
            <a:r>
              <a:rPr lang="en-US" sz="3200" b="1" dirty="0">
                <a:solidFill>
                  <a:schemeClr val="tx1"/>
                </a:solidFill>
                <a:latin typeface="Arial Black" panose="020B0A04020102020204" pitchFamily="34" charset="0"/>
              </a:rPr>
              <a:t>                 </a:t>
            </a:r>
            <a:b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600" b="1" dirty="0">
                <a:solidFill>
                  <a:schemeClr val="tx1"/>
                </a:solidFill>
                <a:latin typeface="Arial Black" panose="020B0A04020102020204" pitchFamily="34" charset="0"/>
              </a:rPr>
              <a:t>       </a:t>
            </a:r>
            <a:r>
              <a:rPr lang="en-US" sz="4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Pooja C</a:t>
            </a:r>
          </a:p>
        </p:txBody>
      </p:sp>
    </p:spTree>
    <p:extLst>
      <p:ext uri="{BB962C8B-B14F-4D97-AF65-F5344CB8AC3E}">
        <p14:creationId xmlns:p14="http://schemas.microsoft.com/office/powerpoint/2010/main" val="3767337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/>
        </p:nvSpPr>
        <p:spPr>
          <a:xfrm>
            <a:off x="0" y="403597"/>
            <a:ext cx="47756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Contents</a:t>
            </a:r>
            <a:endParaRPr lang="en-US" sz="2400" b="1" kern="1200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5A6ADD-239C-48BE-AB1E-63748AE1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388" y="140890"/>
            <a:ext cx="2662410" cy="4527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241" y="1037384"/>
            <a:ext cx="347723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Introduction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Literature Survey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Problem statement 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Objectives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Functional block diagram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Proposed Methodology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Results and Discussion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Conclusion and Future scope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468650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/>
        </p:nvSpPr>
        <p:spPr>
          <a:xfrm>
            <a:off x="0" y="403597"/>
            <a:ext cx="47756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Introduction</a:t>
            </a:r>
            <a:endParaRPr lang="en-US" sz="2400" b="1" kern="1200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5A6ADD-239C-48BE-AB1E-63748AE1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87E33-E92B-083C-0CAD-A804B61DDD5C}"/>
              </a:ext>
            </a:extLst>
          </p:cNvPr>
          <p:cNvSpPr txBox="1"/>
          <p:nvPr/>
        </p:nvSpPr>
        <p:spPr>
          <a:xfrm>
            <a:off x="373626" y="1087481"/>
            <a:ext cx="1159223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Digital circuits are traditionally designed using Verilog or VHDL, which require extensive coding and verification.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dirty="0" err="1"/>
              <a:t>MyHDL</a:t>
            </a:r>
            <a:r>
              <a:rPr lang="en-IN" sz="2400" dirty="0"/>
              <a:t> is an open-source Python framework that enables digital hardware to be designed, simulated, and verified using Python.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verified </a:t>
            </a:r>
            <a:r>
              <a:rPr lang="en-IN" sz="2400" dirty="0" err="1"/>
              <a:t>MyHDL</a:t>
            </a:r>
            <a:r>
              <a:rPr lang="en-IN" sz="2400" dirty="0"/>
              <a:t> design is automatically converted into synthesizable Verilog HDL for FPGA implementation.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This project implements 8-bit and 16-bit Booth Multipliers and a signed Multiply-Accumulate (MAC) unit using the </a:t>
            </a:r>
            <a:r>
              <a:rPr lang="en-IN" sz="2400" dirty="0" err="1"/>
              <a:t>MyHDL</a:t>
            </a:r>
            <a:r>
              <a:rPr lang="en-IN" sz="2400" dirty="0"/>
              <a:t> framework.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generated Verilog is synthesized using Xilinx </a:t>
            </a:r>
            <a:r>
              <a:rPr lang="en-IN" sz="2400" dirty="0" err="1"/>
              <a:t>Vivado</a:t>
            </a:r>
            <a:r>
              <a:rPr lang="en-IN" sz="2400" dirty="0"/>
              <a:t> and deployed on the PYNQ-Z2 FPGA 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Hardware operation is verified through Python programs in Jupyter Notebook, providing a complete Python-to-FPGA development workflow.</a:t>
            </a:r>
          </a:p>
        </p:txBody>
      </p:sp>
    </p:spTree>
    <p:extLst>
      <p:ext uri="{BB962C8B-B14F-4D97-AF65-F5344CB8AC3E}">
        <p14:creationId xmlns:p14="http://schemas.microsoft.com/office/powerpoint/2010/main" val="1077292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/>
        </p:nvSpPr>
        <p:spPr>
          <a:xfrm>
            <a:off x="0" y="372066"/>
            <a:ext cx="47756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Literature survey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5A6ADD-239C-48BE-AB1E-63748AE1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9F136B-E297-AA7B-D9EE-62383E255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833506"/>
              </p:ext>
            </p:extLst>
          </p:nvPr>
        </p:nvGraphicFramePr>
        <p:xfrm>
          <a:off x="580103" y="1123603"/>
          <a:ext cx="11208775" cy="5030501"/>
        </p:xfrm>
        <a:graphic>
          <a:graphicData uri="http://schemas.openxmlformats.org/drawingml/2006/table">
            <a:tbl>
              <a:tblPr firstRow="1" bandRow="1">
                <a:tableStyleId>{94C48280-0431-4497-90C4-164544280AFA}</a:tableStyleId>
              </a:tblPr>
              <a:tblGrid>
                <a:gridCol w="3233887">
                  <a:extLst>
                    <a:ext uri="{9D8B030D-6E8A-4147-A177-3AD203B41FA5}">
                      <a16:colId xmlns:a16="http://schemas.microsoft.com/office/drawing/2014/main" val="775565826"/>
                    </a:ext>
                  </a:extLst>
                </a:gridCol>
                <a:gridCol w="2658296">
                  <a:extLst>
                    <a:ext uri="{9D8B030D-6E8A-4147-A177-3AD203B41FA5}">
                      <a16:colId xmlns:a16="http://schemas.microsoft.com/office/drawing/2014/main" val="1914448178"/>
                    </a:ext>
                  </a:extLst>
                </a:gridCol>
                <a:gridCol w="2658296">
                  <a:extLst>
                    <a:ext uri="{9D8B030D-6E8A-4147-A177-3AD203B41FA5}">
                      <a16:colId xmlns:a16="http://schemas.microsoft.com/office/drawing/2014/main" val="1732084769"/>
                    </a:ext>
                  </a:extLst>
                </a:gridCol>
                <a:gridCol w="2658296">
                  <a:extLst>
                    <a:ext uri="{9D8B030D-6E8A-4147-A177-3AD203B41FA5}">
                      <a16:colId xmlns:a16="http://schemas.microsoft.com/office/drawing/2014/main" val="1357815222"/>
                    </a:ext>
                  </a:extLst>
                </a:gridCol>
              </a:tblGrid>
              <a:tr h="463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Reference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Technique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Major Contribution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7118786"/>
                  </a:ext>
                </a:extLst>
              </a:tr>
              <a:tr h="1141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Jaic and Smith [5]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MyHDL 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Enhanced MyHDL with improved abstraction and HDL 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manual optimization for synthesis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5095586"/>
                  </a:ext>
                </a:extLst>
              </a:tr>
              <a:tr h="1141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Villar </a:t>
                      </a:r>
                      <a:r>
                        <a:rPr lang="en-IN" b="1" i="1"/>
                        <a:t>et al.</a:t>
                      </a:r>
                      <a:r>
                        <a:rPr lang="en-IN" b="1"/>
                        <a:t> [8]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as HDL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Demonstrated Python as an effective hardware description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discussion on FPGA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85461"/>
                  </a:ext>
                </a:extLst>
              </a:tr>
              <a:tr h="1141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Decaluwe [2]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MyHDL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Provided simulation and automatic Verilog/VHDL 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Focused mainly on framework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0431278"/>
                  </a:ext>
                </a:extLst>
              </a:tr>
              <a:tr h="1141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Huang </a:t>
                      </a:r>
                      <a:r>
                        <a:rPr lang="en-IN" b="1" i="1"/>
                        <a:t>et al.</a:t>
                      </a:r>
                      <a:r>
                        <a:rPr lang="en-IN" b="1"/>
                        <a:t> [4]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CPU–FPGA 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Unified Python-based software and hardware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Targets heterogeneous computing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25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6579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E42FC221-759B-C854-BAE1-89DF7E1E7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>
            <a:extLst>
              <a:ext uri="{FF2B5EF4-FFF2-40B4-BE49-F238E27FC236}">
                <a16:creationId xmlns:a16="http://schemas.microsoft.com/office/drawing/2014/main" id="{6BFA5B44-61CC-3B88-5F5B-BF42E5CD2620}"/>
              </a:ext>
            </a:extLst>
          </p:cNvPr>
          <p:cNvSpPr txBox="1"/>
          <p:nvPr/>
        </p:nvSpPr>
        <p:spPr>
          <a:xfrm>
            <a:off x="0" y="372066"/>
            <a:ext cx="47756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Literature survey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DF3925-3B02-5ECA-656A-E21E8570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91FC3D2-1670-5441-01A3-EE33A8497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47DF93-8C17-6BE6-8405-7629940EE1CD}"/>
              </a:ext>
            </a:extLst>
          </p:cNvPr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8889C-36C1-4541-5ED9-EB12212ED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872F70-DEB2-C22A-BB3D-FFE0E2DD7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645849"/>
              </p:ext>
            </p:extLst>
          </p:nvPr>
        </p:nvGraphicFramePr>
        <p:xfrm>
          <a:off x="508232" y="1101386"/>
          <a:ext cx="11175536" cy="5036954"/>
        </p:xfrm>
        <a:graphic>
          <a:graphicData uri="http://schemas.openxmlformats.org/drawingml/2006/table">
            <a:tbl>
              <a:tblPr firstRow="1" bandRow="1">
                <a:tableStyleId>{94C48280-0431-4497-90C4-164544280AFA}</a:tableStyleId>
              </a:tblPr>
              <a:tblGrid>
                <a:gridCol w="2793884">
                  <a:extLst>
                    <a:ext uri="{9D8B030D-6E8A-4147-A177-3AD203B41FA5}">
                      <a16:colId xmlns:a16="http://schemas.microsoft.com/office/drawing/2014/main" val="1856161828"/>
                    </a:ext>
                  </a:extLst>
                </a:gridCol>
                <a:gridCol w="2793884">
                  <a:extLst>
                    <a:ext uri="{9D8B030D-6E8A-4147-A177-3AD203B41FA5}">
                      <a16:colId xmlns:a16="http://schemas.microsoft.com/office/drawing/2014/main" val="3141036059"/>
                    </a:ext>
                  </a:extLst>
                </a:gridCol>
                <a:gridCol w="2793884">
                  <a:extLst>
                    <a:ext uri="{9D8B030D-6E8A-4147-A177-3AD203B41FA5}">
                      <a16:colId xmlns:a16="http://schemas.microsoft.com/office/drawing/2014/main" val="2094673626"/>
                    </a:ext>
                  </a:extLst>
                </a:gridCol>
                <a:gridCol w="2793884">
                  <a:extLst>
                    <a:ext uri="{9D8B030D-6E8A-4147-A177-3AD203B41FA5}">
                      <a16:colId xmlns:a16="http://schemas.microsoft.com/office/drawing/2014/main" val="2104995876"/>
                    </a:ext>
                  </a:extLst>
                </a:gridCol>
              </a:tblGrid>
              <a:tr h="5727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Reference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Technique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Major Contribution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Limitation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512553"/>
                  </a:ext>
                </a:extLst>
              </a:tr>
              <a:tr h="1191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Anoop and Chalil [1]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FPGA Multipliers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Compared various multiplier architectures on FPGA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conventional HDL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378301"/>
                  </a:ext>
                </a:extLst>
              </a:tr>
              <a:tr h="1040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Kamble and Ugale [6]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Vedic, Wallace, 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comparison of multiplier algorithms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high-level hardware design methodology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150651"/>
                  </a:ext>
                </a:extLst>
              </a:tr>
              <a:tr h="1040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Harika </a:t>
                      </a:r>
                      <a:r>
                        <a:rPr lang="en-IN" b="1" i="1"/>
                        <a:t>et al.</a:t>
                      </a:r>
                      <a:r>
                        <a:rPr lang="en-IN" b="1"/>
                        <a:t> [3]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Booth, Wallace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Analysed delay, power and area of multipliers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implementation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703414"/>
                  </a:ext>
                </a:extLst>
              </a:tr>
              <a:tr h="1191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Nair and Saraf [7]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Multiplier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Comprehensive comparison of multiplier architectures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Review-oriented; no hardware implementation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1211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8142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 txBox="1"/>
          <p:nvPr/>
        </p:nvSpPr>
        <p:spPr>
          <a:xfrm>
            <a:off x="0" y="403597"/>
            <a:ext cx="47756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Problem statement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5A6ADD-239C-48BE-AB1E-63748AE1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E8CC6-85F6-E248-54A7-E109C6121DEA}"/>
              </a:ext>
            </a:extLst>
          </p:cNvPr>
          <p:cNvSpPr txBox="1"/>
          <p:nvPr/>
        </p:nvSpPr>
        <p:spPr>
          <a:xfrm>
            <a:off x="323059" y="1656978"/>
            <a:ext cx="1154588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Traditional HDL design requires extensive coding.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Verilog/VHDL debugging is time-consuming.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Rapid hardware prototyping is difficult.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Auto-generated Verilog may have </a:t>
            </a:r>
            <a:r>
              <a:rPr lang="en-IN" sz="2800" dirty="0" err="1"/>
              <a:t>Vivado</a:t>
            </a:r>
            <a:r>
              <a:rPr lang="en-IN" sz="2800" dirty="0"/>
              <a:t> compatibility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 Manual optimization is often required before synthesis.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Hardware verification involves multiple design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 A simpler Python-to-FPGA workflow is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0" y="513956"/>
            <a:ext cx="252505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Objectives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108CB-0FC8-456C-AB03-8EFC27FC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E392B-63B6-13DC-5B30-23F80D3425E9}"/>
              </a:ext>
            </a:extLst>
          </p:cNvPr>
          <p:cNvSpPr txBox="1"/>
          <p:nvPr/>
        </p:nvSpPr>
        <p:spPr>
          <a:xfrm>
            <a:off x="481780" y="1388370"/>
            <a:ext cx="116217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Design digital hardware using the </a:t>
            </a:r>
            <a:r>
              <a:rPr lang="en-IN" sz="2800" dirty="0" err="1"/>
              <a:t>MyHDL</a:t>
            </a:r>
            <a:r>
              <a:rPr lang="en-IN" sz="2800" dirty="0"/>
              <a:t> framework.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Develop 8-bit and 16-bit Booth Multipliers.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Design a signed Multiply-Accumulate (MAC) Unit.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Convert </a:t>
            </a:r>
            <a:r>
              <a:rPr lang="en-IN" sz="2800" dirty="0" err="1"/>
              <a:t>MyHDL</a:t>
            </a:r>
            <a:r>
              <a:rPr lang="en-IN" sz="2800" dirty="0"/>
              <a:t> designs into Verilog HDL.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Perform simulation and functional verification.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Implement the design using Xilinx </a:t>
            </a:r>
            <a:r>
              <a:rPr lang="en-IN" sz="2800" dirty="0" err="1"/>
              <a:t>Vivado</a:t>
            </a:r>
            <a:r>
              <a:rPr lang="en-IN" sz="28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Deploy the hardware on the PYNQ-Z2 FPGA.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Verify outputs using Python and Jupyter Notebook.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Demonstrate a complete Python-to-FPGA design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0" y="309004"/>
            <a:ext cx="7407091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spcBef>
                <a:spcPts val="1160"/>
              </a:spcBef>
              <a:buSzPts val="4060"/>
            </a:pPr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Functional block diagram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108CB-0FC8-456C-AB03-8EFC27FC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65DEC3C9-45A5-19BF-31D0-7961C5494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391" y="1053210"/>
            <a:ext cx="9821218" cy="510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2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0" y="435128"/>
            <a:ext cx="680800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Proposed Methodology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108CB-0FC8-456C-AB03-8EFC27FC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220F77-ECD8-979D-7761-D065C47771F8}"/>
              </a:ext>
            </a:extLst>
          </p:cNvPr>
          <p:cNvSpPr txBox="1"/>
          <p:nvPr/>
        </p:nvSpPr>
        <p:spPr>
          <a:xfrm>
            <a:off x="188615" y="944504"/>
            <a:ext cx="67332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1. Hardware Design</a:t>
            </a:r>
          </a:p>
          <a:p>
            <a:r>
              <a:rPr lang="en-IN" dirty="0"/>
              <a:t>Develop the 8-bit and 16-bit Booth Multipliers. </a:t>
            </a:r>
          </a:p>
          <a:p>
            <a:r>
              <a:rPr lang="en-IN" dirty="0"/>
              <a:t>Design the signed MAC Unit using </a:t>
            </a:r>
            <a:r>
              <a:rPr lang="en-IN" dirty="0" err="1"/>
              <a:t>MyHDL</a:t>
            </a:r>
            <a:r>
              <a:rPr lang="en-IN" dirty="0"/>
              <a:t>. </a:t>
            </a:r>
          </a:p>
          <a:p>
            <a:endParaRPr lang="en-IN" dirty="0"/>
          </a:p>
          <a:p>
            <a:r>
              <a:rPr lang="en-IN" b="1" dirty="0"/>
              <a:t>2. Functional Simulation</a:t>
            </a:r>
          </a:p>
          <a:p>
            <a:r>
              <a:rPr lang="en-IN" dirty="0"/>
              <a:t>Simulate the hardware modules in </a:t>
            </a:r>
            <a:r>
              <a:rPr lang="en-IN" dirty="0" err="1"/>
              <a:t>MyHDL</a:t>
            </a:r>
            <a:r>
              <a:rPr lang="en-IN" dirty="0"/>
              <a:t>. </a:t>
            </a:r>
          </a:p>
          <a:p>
            <a:r>
              <a:rPr lang="en-IN" dirty="0"/>
              <a:t>Verify signed arithmetic operations. </a:t>
            </a:r>
          </a:p>
          <a:p>
            <a:endParaRPr lang="en-IN" dirty="0"/>
          </a:p>
          <a:p>
            <a:r>
              <a:rPr lang="en-IN" b="1" dirty="0"/>
              <a:t>3. Verilog Generation</a:t>
            </a:r>
          </a:p>
          <a:p>
            <a:r>
              <a:rPr lang="en-IN" dirty="0"/>
              <a:t>Convert the </a:t>
            </a:r>
            <a:r>
              <a:rPr lang="en-IN" dirty="0" err="1"/>
              <a:t>MyHDL</a:t>
            </a:r>
            <a:r>
              <a:rPr lang="en-IN" dirty="0"/>
              <a:t> design into synthesizable Verilog HDL. </a:t>
            </a:r>
          </a:p>
          <a:p>
            <a:r>
              <a:rPr lang="en-IN" dirty="0"/>
              <a:t>Prepare the design for FPGA implementation. </a:t>
            </a:r>
          </a:p>
          <a:p>
            <a:endParaRPr lang="en-IN" dirty="0"/>
          </a:p>
          <a:p>
            <a:r>
              <a:rPr lang="en-IN" b="1" dirty="0"/>
              <a:t>4. FPGA Implementation</a:t>
            </a:r>
          </a:p>
          <a:p>
            <a:r>
              <a:rPr lang="en-IN" dirty="0"/>
              <a:t>Synthesize and implement the Verilog design using Xilinx </a:t>
            </a:r>
            <a:r>
              <a:rPr lang="en-IN" dirty="0" err="1"/>
              <a:t>Vivado</a:t>
            </a:r>
            <a:r>
              <a:rPr lang="en-IN" dirty="0"/>
              <a:t>. </a:t>
            </a:r>
          </a:p>
          <a:p>
            <a:r>
              <a:rPr lang="en-IN" dirty="0"/>
              <a:t>Generate the FPGA configuration bitstream. </a:t>
            </a:r>
          </a:p>
          <a:p>
            <a:endParaRPr lang="en-IN" dirty="0"/>
          </a:p>
          <a:p>
            <a:r>
              <a:rPr lang="en-IN" b="1" dirty="0"/>
              <a:t>5. Hardware Deployment</a:t>
            </a:r>
          </a:p>
          <a:p>
            <a:r>
              <a:rPr lang="en-IN" dirty="0"/>
              <a:t>Program the PYNQ-Z2 FPGA board. </a:t>
            </a:r>
          </a:p>
          <a:p>
            <a:r>
              <a:rPr lang="en-IN" dirty="0"/>
              <a:t>Configure the generated hardware overlay. </a:t>
            </a:r>
          </a:p>
          <a:p>
            <a:endParaRPr lang="en-IN" dirty="0"/>
          </a:p>
          <a:p>
            <a:r>
              <a:rPr lang="en-IN" b="1" dirty="0"/>
              <a:t>6. Output Verification</a:t>
            </a:r>
          </a:p>
          <a:p>
            <a:r>
              <a:rPr lang="en-IN" dirty="0"/>
              <a:t>Execute the hardware using Jupyter Notebook. </a:t>
            </a:r>
          </a:p>
          <a:p>
            <a:r>
              <a:rPr lang="en-IN" dirty="0"/>
              <a:t>Compare FPGA outputs with expected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524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0" y="435128"/>
            <a:ext cx="680800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Results and discussions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108CB-0FC8-456C-AB03-8EFC27FC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11E984-5E16-B3C8-6DB6-BD1C4A54D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46" y="1040695"/>
            <a:ext cx="10982337" cy="511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24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A2E2D3D9-CAF2-F1D2-A0C4-C06CDD74B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>
            <a:extLst>
              <a:ext uri="{FF2B5EF4-FFF2-40B4-BE49-F238E27FC236}">
                <a16:creationId xmlns:a16="http://schemas.microsoft.com/office/drawing/2014/main" id="{0A28CA79-B3CA-3143-135F-4D1C89AD93E1}"/>
              </a:ext>
            </a:extLst>
          </p:cNvPr>
          <p:cNvSpPr txBox="1"/>
          <p:nvPr/>
        </p:nvSpPr>
        <p:spPr>
          <a:xfrm>
            <a:off x="0" y="435128"/>
            <a:ext cx="680800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Results and discussions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18330F-64C4-5C14-3346-850521542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ABD07E5-15E6-0801-B48B-2D1784EE5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298DA0-2898-16C6-902A-1E4D70B481DA}"/>
              </a:ext>
            </a:extLst>
          </p:cNvPr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7EF0E-3F0D-C905-A845-4B2307FA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21ADB8-A8C7-851F-F4AB-833A9CA2C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77" y="1188549"/>
            <a:ext cx="10740974" cy="478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66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8D242A88-DEB9-43CC-2158-293FBACA5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>
            <a:extLst>
              <a:ext uri="{FF2B5EF4-FFF2-40B4-BE49-F238E27FC236}">
                <a16:creationId xmlns:a16="http://schemas.microsoft.com/office/drawing/2014/main" id="{B33CB138-5628-A621-712B-84517BA33489}"/>
              </a:ext>
            </a:extLst>
          </p:cNvPr>
          <p:cNvSpPr txBox="1"/>
          <p:nvPr/>
        </p:nvSpPr>
        <p:spPr>
          <a:xfrm>
            <a:off x="0" y="435128"/>
            <a:ext cx="680800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Results and discussions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82C2FC-5A1F-D784-C5F6-67484B168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F1F7568-43E8-CF5F-D625-262D798F8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04C8CD-42AF-4114-0F02-AE793D2EBCC1}"/>
              </a:ext>
            </a:extLst>
          </p:cNvPr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09734-C72A-A0EE-BC08-37EAA08A2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CFB4C3-9FE2-D1B4-B5E8-CA5505F21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34" y="1040695"/>
            <a:ext cx="11307097" cy="511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203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8FD1CA5-5379-7B1A-D875-22C7F47F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>
            <a:extLst>
              <a:ext uri="{FF2B5EF4-FFF2-40B4-BE49-F238E27FC236}">
                <a16:creationId xmlns:a16="http://schemas.microsoft.com/office/drawing/2014/main" id="{285DA005-5A2A-6EE5-7300-D6712FF9C8C8}"/>
              </a:ext>
            </a:extLst>
          </p:cNvPr>
          <p:cNvSpPr txBox="1"/>
          <p:nvPr/>
        </p:nvSpPr>
        <p:spPr>
          <a:xfrm>
            <a:off x="0" y="435128"/>
            <a:ext cx="680800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Results and discussions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4BEED3-335A-7C81-C85D-F06735A0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D1BF08C-5997-4DA2-ED86-DC1ED7397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57DB69-E24D-14E9-9444-D01984242DA1}"/>
              </a:ext>
            </a:extLst>
          </p:cNvPr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D55226-1D6C-0BB5-FDD5-C90BD8B66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9D042-8C36-1D5B-11FB-06E06A48B0F1}"/>
              </a:ext>
            </a:extLst>
          </p:cNvPr>
          <p:cNvSpPr txBox="1"/>
          <p:nvPr/>
        </p:nvSpPr>
        <p:spPr>
          <a:xfrm>
            <a:off x="74641" y="1311426"/>
            <a:ext cx="1204271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Designed 8-bit &amp; 16-bit Booth Multipliers.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Implemented the signed MAC Unit.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Generated Verilog HDL using </a:t>
            </a:r>
            <a:r>
              <a:rPr lang="en-IN" sz="1600" dirty="0" err="1"/>
              <a:t>MyHDL</a:t>
            </a:r>
            <a:r>
              <a:rPr lang="en-IN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Synthesized and deployed on PYNQ-Z2 FPGA.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Verified outputs using Jupyter Notebook.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Hardware results matched expected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Demonstrated a complete Python-to-FPGA workflow.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C1685-2391-F892-1932-8A9977FEF7F9}"/>
              </a:ext>
            </a:extLst>
          </p:cNvPr>
          <p:cNvSpPr txBox="1"/>
          <p:nvPr/>
        </p:nvSpPr>
        <p:spPr>
          <a:xfrm>
            <a:off x="334296" y="943859"/>
            <a:ext cx="11112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/>
              <a:t>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1E8068-E548-F20C-29B5-104D2B7FF101}"/>
              </a:ext>
            </a:extLst>
          </p:cNvPr>
          <p:cNvSpPr txBox="1"/>
          <p:nvPr/>
        </p:nvSpPr>
        <p:spPr>
          <a:xfrm>
            <a:off x="334296" y="3494875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/>
              <a:t>Discussions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6169F3-0EF0-6670-7091-2755AC970D53}"/>
              </a:ext>
            </a:extLst>
          </p:cNvPr>
          <p:cNvSpPr txBox="1"/>
          <p:nvPr/>
        </p:nvSpPr>
        <p:spPr>
          <a:xfrm>
            <a:off x="176070" y="4035953"/>
            <a:ext cx="61549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Correct hardware operation verified.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Accurate multiplication and accumulation.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Efficient Python-based design flow.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Successful FPGA implementation.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Reduced development complexity.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Scalable for future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502360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0" y="435128"/>
            <a:ext cx="680800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Conclusion and future scope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108CB-0FC8-456C-AB03-8EFC27FC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2123DB1B-1029-E7FB-42EA-F4238EBD7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01" y="1064744"/>
            <a:ext cx="7092767" cy="47285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F96C50-D060-362E-94BB-BC78DBF58CB3}"/>
              </a:ext>
            </a:extLst>
          </p:cNvPr>
          <p:cNvSpPr txBox="1"/>
          <p:nvPr/>
        </p:nvSpPr>
        <p:spPr>
          <a:xfrm>
            <a:off x="7372369" y="1211060"/>
            <a:ext cx="44539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Extend to 32-bit/64-bit arithmetic units.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Develop parallel and pipelined MAC architectures.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Apply in DSP, AI, and Neural Networks.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Implement matrix multiplication accelerators.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Optimize for speed, power, and area.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Deploy on next-generation FPGA platforms.</a:t>
            </a:r>
          </a:p>
        </p:txBody>
      </p:sp>
    </p:spTree>
    <p:extLst>
      <p:ext uri="{BB962C8B-B14F-4D97-AF65-F5344CB8AC3E}">
        <p14:creationId xmlns:p14="http://schemas.microsoft.com/office/powerpoint/2010/main" val="1169524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17A7DDB4-7A2D-EB46-640A-202BA4E25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>
            <a:extLst>
              <a:ext uri="{FF2B5EF4-FFF2-40B4-BE49-F238E27FC236}">
                <a16:creationId xmlns:a16="http://schemas.microsoft.com/office/drawing/2014/main" id="{CBC658E0-DF46-48BA-AACF-3DC3BDC70A21}"/>
              </a:ext>
            </a:extLst>
          </p:cNvPr>
          <p:cNvSpPr txBox="1"/>
          <p:nvPr/>
        </p:nvSpPr>
        <p:spPr>
          <a:xfrm>
            <a:off x="0" y="435128"/>
            <a:ext cx="680800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Conclusion and future scope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446437-9CFB-ECF0-5CA6-9DADBDEB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EF00248-3D18-2013-4360-88E2B8D07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FCD80C-7106-986C-370E-A189066720DB}"/>
              </a:ext>
            </a:extLst>
          </p:cNvPr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CE69C-9FF6-5E71-56AD-B83E3882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B79B3C-9663-79BA-513B-FCE3A270B4D5}"/>
              </a:ext>
            </a:extLst>
          </p:cNvPr>
          <p:cNvSpPr txBox="1"/>
          <p:nvPr/>
        </p:nvSpPr>
        <p:spPr>
          <a:xfrm>
            <a:off x="257680" y="1629790"/>
            <a:ext cx="1120673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Successfully designed 8-bit and 16-bit Booth Multipliers and a signed MAC Unit using the </a:t>
            </a:r>
            <a:r>
              <a:rPr lang="en-IN" sz="2400" dirty="0" err="1"/>
              <a:t>MyHDL</a:t>
            </a:r>
            <a:r>
              <a:rPr lang="en-IN" sz="2400" dirty="0"/>
              <a:t> framework.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Demonstrated automatic conversion from Python to synthesizable Verilog HDL.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Successfully synthesized and implemented the design using Xilinx </a:t>
            </a:r>
            <a:r>
              <a:rPr lang="en-IN" sz="2400" dirty="0" err="1"/>
              <a:t>Vivado</a:t>
            </a:r>
            <a:r>
              <a:rPr lang="en-IN" sz="2400" dirty="0"/>
              <a:t> on the PYNQ-Z2 FPGA.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Verified the hardware functionality through Python and Jupyter Notebook, obtaining correct signed arithmetic results.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Reduced hardware development effort by combining high-level Python programming with FPGA implementation.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Established a reliable and efficient Python-to-FPGA digital design workflow for digital arithmetic applications.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B7420-7CD6-922C-D554-061C1067338B}"/>
              </a:ext>
            </a:extLst>
          </p:cNvPr>
          <p:cNvSpPr txBox="1"/>
          <p:nvPr/>
        </p:nvSpPr>
        <p:spPr>
          <a:xfrm>
            <a:off x="257680" y="926939"/>
            <a:ext cx="2141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124166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0" y="435128"/>
            <a:ext cx="680800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kern="1200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  <a:sym typeface="Corbel"/>
              </a:rPr>
              <a:t>References in IEEE format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108CB-0FC8-456C-AB03-8EFC27FC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8923" y="143483"/>
            <a:ext cx="2643077" cy="449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2D267-5138-49D7-F2C3-9C51B6EB431C}"/>
              </a:ext>
            </a:extLst>
          </p:cNvPr>
          <p:cNvSpPr txBox="1"/>
          <p:nvPr/>
        </p:nvSpPr>
        <p:spPr>
          <a:xfrm>
            <a:off x="324464" y="1262951"/>
            <a:ext cx="117200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[1] Anoop C. and Anu Chalil. </a:t>
            </a:r>
            <a:r>
              <a:rPr lang="en-IN" sz="1800" i="1" dirty="0"/>
              <a:t>Implementation and analysis of multiplication algorithms for VLSI applications using FPGA.</a:t>
            </a:r>
            <a:r>
              <a:rPr lang="en-IN" sz="1800" dirty="0"/>
              <a:t> International Journal of Electrical, Electronics and Data Communication, 5(9):48–51, 2017.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[2] Jan Decaluwe. </a:t>
            </a:r>
            <a:r>
              <a:rPr lang="en-IN" sz="1800" i="1" dirty="0" err="1"/>
              <a:t>MyHDL</a:t>
            </a:r>
            <a:r>
              <a:rPr lang="en-IN" sz="1800" i="1" dirty="0"/>
              <a:t>: Designing digital hardware with Python.</a:t>
            </a:r>
            <a:r>
              <a:rPr lang="en-IN" sz="1800" dirty="0"/>
              <a:t> 2010. Presentation and Tutorial.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[3] K. Harika, B. V. Swetha, B. Renuka, D. Lakshman Rao, and S. Sridhar. </a:t>
            </a:r>
            <a:r>
              <a:rPr lang="en-IN" sz="1800" i="1" dirty="0"/>
              <a:t>Analysis of different multiplication algorithms and FPGA implementation.</a:t>
            </a:r>
            <a:r>
              <a:rPr lang="en-IN" sz="1800" dirty="0"/>
              <a:t> IOSR Journal of VLSI and Signal Processing, 4(2):29–35, 2014.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[4] Sitao Huang, Kun Wu, Sai Rahul </a:t>
            </a:r>
            <a:r>
              <a:rPr lang="en-IN" sz="1800" dirty="0" err="1"/>
              <a:t>Chalamalasetti</a:t>
            </a:r>
            <a:r>
              <a:rPr lang="en-IN" sz="1800" dirty="0"/>
              <a:t>, Izzat El Hajj, Cong Xu, Paolo </a:t>
            </a:r>
            <a:r>
              <a:rPr lang="en-IN" sz="1800" dirty="0" err="1"/>
              <a:t>Faraboschi</a:t>
            </a:r>
            <a:r>
              <a:rPr lang="en-IN" sz="1800" dirty="0"/>
              <a:t>, and Deming Chen. </a:t>
            </a:r>
            <a:r>
              <a:rPr lang="en-IN" sz="1800" i="1" dirty="0"/>
              <a:t>A Python-based high-level programming flow for CPU–FPGA heterogeneous systems.</a:t>
            </a:r>
            <a:r>
              <a:rPr lang="en-IN" sz="1800" dirty="0"/>
              <a:t> In IEEE/ACM Programming Environments for Heterogeneous Computing (PEHC), pages 20–26, 2021.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[5] Keerthan </a:t>
            </a:r>
            <a:r>
              <a:rPr lang="en-IN" sz="1800" dirty="0" err="1"/>
              <a:t>Jaic</a:t>
            </a:r>
            <a:r>
              <a:rPr lang="en-IN" sz="1800" dirty="0"/>
              <a:t> and Melissa C. Smith. </a:t>
            </a:r>
            <a:r>
              <a:rPr lang="en-IN" sz="1800" i="1" dirty="0"/>
              <a:t>Enhancing hardware design flows with </a:t>
            </a:r>
            <a:r>
              <a:rPr lang="en-IN" sz="1800" i="1" dirty="0" err="1"/>
              <a:t>MyHDL</a:t>
            </a:r>
            <a:r>
              <a:rPr lang="en-IN" sz="1800" i="1" dirty="0"/>
              <a:t>.</a:t>
            </a:r>
            <a:r>
              <a:rPr lang="en-IN" sz="1800" dirty="0"/>
              <a:t> In Proceedings of the ACM/SIGDA International Symposium on Field-Programmable Gate Arrays (FPGA), pages 28–31, 2015.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[6] Manoj M. Kamble and Sunita P. Ugale. </a:t>
            </a:r>
            <a:r>
              <a:rPr lang="en-IN" sz="1800" i="1" dirty="0"/>
              <a:t>FPGA implementation and analysis of different multiplication algorithm.</a:t>
            </a:r>
            <a:r>
              <a:rPr lang="en-IN" sz="1800" dirty="0"/>
              <a:t> International Journal of Computer Applications, 149(2):33–36, 2016.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[7] Savita Nair and Ajit Saraf. </a:t>
            </a:r>
            <a:r>
              <a:rPr lang="en-IN" sz="1800" i="1" dirty="0"/>
              <a:t>A review paper on comparison of multipliers based on performance parameters.</a:t>
            </a:r>
            <a:r>
              <a:rPr lang="en-IN" sz="1800" dirty="0"/>
              <a:t> In International Conference on Advances in Science and Technology (ICAST), pages 6–9, 2014.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[8] J. I. Villar, J. Juan, M. J. Bellido, J. Viejo, D. Guerrero, and Jan Decaluwe. </a:t>
            </a:r>
            <a:r>
              <a:rPr lang="en-IN" sz="1800" i="1" dirty="0"/>
              <a:t>Python as a hardware description language: A case study.</a:t>
            </a:r>
            <a:r>
              <a:rPr lang="en-IN" sz="1800" dirty="0"/>
              <a:t> In IEEE Conference, pages 117–122, 2011.</a:t>
            </a:r>
          </a:p>
        </p:txBody>
      </p:sp>
    </p:spTree>
    <p:extLst>
      <p:ext uri="{BB962C8B-B14F-4D97-AF65-F5344CB8AC3E}">
        <p14:creationId xmlns:p14="http://schemas.microsoft.com/office/powerpoint/2010/main" val="1169524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>
            <a:spLocks noGrp="1"/>
          </p:cNvSpPr>
          <p:nvPr>
            <p:ph type="title"/>
          </p:nvPr>
        </p:nvSpPr>
        <p:spPr>
          <a:xfrm>
            <a:off x="-725250" y="2021468"/>
            <a:ext cx="10515600" cy="281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b="1" dirty="0"/>
              <a:t>                          </a:t>
            </a:r>
            <a:r>
              <a:rPr lang="en-US" sz="6000" b="1" dirty="0"/>
              <a:t>THANK YOU</a:t>
            </a:r>
            <a:endParaRPr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3D2E88-50E6-46BE-A123-EEA2F4D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82869"/>
            <a:ext cx="12192000" cy="15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383</TotalTime>
  <Words>1293</Words>
  <Application>Microsoft Office PowerPoint</Application>
  <PresentationFormat>Widescreen</PresentationFormat>
  <Paragraphs>202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 Black</vt:lpstr>
      <vt:lpstr>Calibri</vt:lpstr>
      <vt:lpstr>Corbel</vt:lpstr>
      <vt:lpstr>Calibri Light</vt:lpstr>
      <vt:lpstr>Arial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                         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Electronics and Communication Engineering</dc:title>
  <dc:creator>BHEEMASHANKAR  K</dc:creator>
  <cp:lastModifiedBy>Pavitra Indi</cp:lastModifiedBy>
  <cp:revision>22</cp:revision>
  <dcterms:created xsi:type="dcterms:W3CDTF">2021-02-23T10:06:57Z</dcterms:created>
  <dcterms:modified xsi:type="dcterms:W3CDTF">2026-07-05T16:47:26Z</dcterms:modified>
</cp:coreProperties>
</file>